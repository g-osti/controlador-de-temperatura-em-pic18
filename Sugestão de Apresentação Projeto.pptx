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378b607e0b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378b607e0b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34c5d8bd2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134c5d8bd2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34c5d8be84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134c5d8be84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34c5d8be84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34c5d8be84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202fb8c31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202fb8c31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34c5d8be84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134c5d8be84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134c5d8be84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134c5d8be84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34c5d8be84_1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34c5d8be84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34c5d8be84_1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134c5d8be84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34c5d8be84_1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134c5d8be84_1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f44bba9f6d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f44bba9f6d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f44bba9f6d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f44bba9f6d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34c5d8be84_1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134c5d8be84_1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34c5d8be84_1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134c5d8be84_1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34c5d8be84_1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134c5d8be84_1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ctrTitle"/>
          </p:nvPr>
        </p:nvSpPr>
        <p:spPr>
          <a:xfrm>
            <a:off x="685800" y="841772"/>
            <a:ext cx="77724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623888" y="1282304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623888" y="3442098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629842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629842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887391" y="740570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3887391" y="740570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685800" y="993775"/>
            <a:ext cx="7772400" cy="604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/>
              <a:t>CONTROLE DE TEMPERATURA PROPORCIONAL </a:t>
            </a:r>
            <a:endParaRPr sz="3000"/>
          </a:p>
        </p:txBody>
      </p:sp>
      <p:sp>
        <p:nvSpPr>
          <p:cNvPr id="85" name="Google Shape;85;p13"/>
          <p:cNvSpPr txBox="1"/>
          <p:nvPr/>
        </p:nvSpPr>
        <p:spPr>
          <a:xfrm>
            <a:off x="130800" y="2643725"/>
            <a:ext cx="9013200" cy="1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320040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607">
                <a:solidFill>
                  <a:schemeClr val="dk1"/>
                </a:solidFill>
              </a:rPr>
              <a:t>Alunos: Aylla Guedes</a:t>
            </a:r>
            <a:endParaRPr sz="1607">
              <a:solidFill>
                <a:schemeClr val="dk1"/>
              </a:solidFill>
            </a:endParaRPr>
          </a:p>
          <a:p>
            <a:pPr indent="457200" lvl="0" marL="411480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607">
                <a:solidFill>
                  <a:schemeClr val="dk1"/>
                </a:solidFill>
              </a:rPr>
              <a:t>       Gustavo Osti</a:t>
            </a:r>
            <a:endParaRPr sz="1607">
              <a:solidFill>
                <a:schemeClr val="dk1"/>
              </a:solidFill>
            </a:endParaRPr>
          </a:p>
          <a:p>
            <a:pPr indent="0" lvl="0" marL="457200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607">
                <a:solidFill>
                  <a:schemeClr val="dk1"/>
                </a:solidFill>
              </a:rPr>
              <a:t>       João Schlichting</a:t>
            </a:r>
            <a:endParaRPr sz="1607">
              <a:solidFill>
                <a:schemeClr val="dk1"/>
              </a:solidFill>
            </a:endParaRPr>
          </a:p>
          <a:p>
            <a:pPr indent="457200" lvl="0" marL="411480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607">
                <a:solidFill>
                  <a:schemeClr val="dk1"/>
                </a:solidFill>
              </a:rPr>
              <a:t>       Lucas Alves</a:t>
            </a:r>
            <a:endParaRPr sz="1607">
              <a:solidFill>
                <a:schemeClr val="dk1"/>
              </a:solidFill>
            </a:endParaRPr>
          </a:p>
          <a:p>
            <a:pPr indent="0" lvl="0" marL="457200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607">
                <a:solidFill>
                  <a:schemeClr val="dk1"/>
                </a:solidFill>
              </a:rPr>
              <a:t>       Welker Facchini Nogueira</a:t>
            </a:r>
            <a:endParaRPr sz="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0" y="521725"/>
            <a:ext cx="9144000" cy="99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SUMÁRIO</a:t>
            </a:r>
            <a:endParaRPr/>
          </a:p>
        </p:txBody>
      </p:sp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0" y="1369225"/>
            <a:ext cx="8515500" cy="3263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40000" lnSpcReduction="20000"/>
          </a:bodyPr>
          <a:lstStyle/>
          <a:p>
            <a:pPr indent="-376112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pt-BR" sz="5807"/>
              <a:t>Introdução;</a:t>
            </a:r>
            <a:endParaRPr sz="5807"/>
          </a:p>
          <a:p>
            <a:pPr indent="-37611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pt-BR" sz="5807"/>
              <a:t>Controle Proporcional;</a:t>
            </a:r>
            <a:endParaRPr sz="5807"/>
          </a:p>
          <a:p>
            <a:pPr indent="-37611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pt-BR" sz="5807"/>
              <a:t>Estado da Arte;</a:t>
            </a:r>
            <a:endParaRPr sz="5807"/>
          </a:p>
          <a:p>
            <a:pPr indent="-37611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pt-BR" sz="5807"/>
              <a:t>Objetivos;</a:t>
            </a:r>
            <a:endParaRPr sz="5807"/>
          </a:p>
          <a:p>
            <a:pPr indent="-37611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pt-BR" sz="5807"/>
              <a:t>Justificativa;</a:t>
            </a:r>
            <a:endParaRPr sz="5807"/>
          </a:p>
          <a:p>
            <a:pPr indent="-37611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pt-BR" sz="5807"/>
              <a:t>PIC18F4550;</a:t>
            </a:r>
            <a:endParaRPr sz="5807"/>
          </a:p>
          <a:p>
            <a:pPr indent="-37611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pt-BR" sz="5807"/>
              <a:t>KIT XM11</a:t>
            </a:r>
            <a:r>
              <a:rPr lang="pt-BR" sz="5807"/>
              <a:t>8</a:t>
            </a:r>
            <a:r>
              <a:rPr lang="pt-BR" sz="5807"/>
              <a:t>;</a:t>
            </a:r>
            <a:endParaRPr sz="5807"/>
          </a:p>
          <a:p>
            <a:pPr indent="-37611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pt-BR" sz="5807"/>
              <a:t>Resultados;</a:t>
            </a:r>
            <a:endParaRPr sz="5807"/>
          </a:p>
          <a:p>
            <a:pPr indent="-37611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pt-BR" sz="5807"/>
              <a:t>Especificações;</a:t>
            </a:r>
            <a:endParaRPr sz="5807"/>
          </a:p>
          <a:p>
            <a:pPr indent="-37611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pt-BR" sz="5807"/>
              <a:t>Considerações Finais;</a:t>
            </a:r>
            <a:endParaRPr sz="5807"/>
          </a:p>
          <a:p>
            <a:pPr indent="-37611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pt-BR" sz="5807"/>
              <a:t>Referências.</a:t>
            </a:r>
            <a:endParaRPr sz="5807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0" y="521725"/>
            <a:ext cx="9144000" cy="99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INTRODUÇÃO</a:t>
            </a:r>
            <a:endParaRPr/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0" y="1369225"/>
            <a:ext cx="9144000" cy="309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Importância da área de controle e automação;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 que é um microcontrolador? Como surgiu?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Qual o impacto de um controlador em um sistema?</a:t>
            </a:r>
            <a:endParaRPr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>
            <p:ph type="title"/>
          </p:nvPr>
        </p:nvSpPr>
        <p:spPr>
          <a:xfrm>
            <a:off x="0" y="521725"/>
            <a:ext cx="9144000" cy="99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CONTROLE PROPORCIONAL</a:t>
            </a:r>
            <a:endParaRPr/>
          </a:p>
        </p:txBody>
      </p:sp>
      <p:sp>
        <p:nvSpPr>
          <p:cNvPr id="103" name="Google Shape;103;p16"/>
          <p:cNvSpPr txBox="1"/>
          <p:nvPr>
            <p:ph idx="1" type="body"/>
          </p:nvPr>
        </p:nvSpPr>
        <p:spPr>
          <a:xfrm>
            <a:off x="0" y="1361125"/>
            <a:ext cx="9144000" cy="2456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Sistema realimentado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Estabilidade, precisão e agilidade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Sinal de controle e ganho proporcional</a:t>
            </a:r>
            <a:endParaRPr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pic>
        <p:nvPicPr>
          <p:cNvPr id="104" name="Google Shape;10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0562" y="3191800"/>
            <a:ext cx="3602875" cy="129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0" y="521725"/>
            <a:ext cx="9144000" cy="99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ESTADO DA ARTE </a:t>
            </a:r>
            <a:endParaRPr/>
          </a:p>
        </p:txBody>
      </p:sp>
      <p:sp>
        <p:nvSpPr>
          <p:cNvPr id="110" name="Google Shape;110;p17"/>
          <p:cNvSpPr txBox="1"/>
          <p:nvPr>
            <p:ph idx="1" type="body"/>
          </p:nvPr>
        </p:nvSpPr>
        <p:spPr>
          <a:xfrm>
            <a:off x="0" y="1369225"/>
            <a:ext cx="9144000" cy="309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pt-BR"/>
              <a:t>O controle de temperatura é cada vez mais utilizado, estando presente em </a:t>
            </a:r>
            <a:r>
              <a:rPr lang="pt-BR"/>
              <a:t>inúmeras</a:t>
            </a:r>
            <a:r>
              <a:rPr lang="pt-BR"/>
              <a:t> aplicações.</a:t>
            </a:r>
            <a:endParaRPr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8610" lvl="0" marL="457200" rtl="0" algn="just">
              <a:spcBef>
                <a:spcPts val="1000"/>
              </a:spcBef>
              <a:spcAft>
                <a:spcPts val="0"/>
              </a:spcAft>
              <a:buSzPct val="64285"/>
              <a:buChar char="•"/>
            </a:pPr>
            <a:r>
              <a:rPr lang="pt-BR"/>
              <a:t>ares-condicionados ;</a:t>
            </a:r>
            <a:endParaRPr/>
          </a:p>
          <a:p>
            <a:pPr indent="-308610" lvl="0" marL="457200" rtl="0" algn="just">
              <a:spcBef>
                <a:spcPts val="0"/>
              </a:spcBef>
              <a:spcAft>
                <a:spcPts val="0"/>
              </a:spcAft>
              <a:buSzPct val="64285"/>
              <a:buChar char="•"/>
            </a:pPr>
            <a:r>
              <a:rPr lang="pt-BR"/>
              <a:t>refrigeração de computadores;</a:t>
            </a:r>
            <a:endParaRPr/>
          </a:p>
          <a:p>
            <a:pPr indent="-308610" lvl="0" marL="457200" rtl="0" algn="just">
              <a:spcBef>
                <a:spcPts val="0"/>
              </a:spcBef>
              <a:spcAft>
                <a:spcPts val="0"/>
              </a:spcAft>
              <a:buSzPct val="64285"/>
              <a:buChar char="•"/>
            </a:pPr>
            <a:r>
              <a:rPr lang="pt-BR"/>
              <a:t>chocadeiras;</a:t>
            </a:r>
            <a:endParaRPr/>
          </a:p>
          <a:p>
            <a:pPr indent="-308610" lvl="0" marL="457200" rtl="0" algn="just">
              <a:spcBef>
                <a:spcPts val="0"/>
              </a:spcBef>
              <a:spcAft>
                <a:spcPts val="0"/>
              </a:spcAft>
              <a:buSzPct val="64285"/>
              <a:buChar char="•"/>
            </a:pPr>
            <a:r>
              <a:rPr lang="pt-BR"/>
              <a:t>fornos de pintura eletrostática;</a:t>
            </a:r>
            <a:endParaRPr/>
          </a:p>
          <a:p>
            <a:pPr indent="-308610" lvl="0" marL="457200" rtl="0" algn="just">
              <a:spcBef>
                <a:spcPts val="0"/>
              </a:spcBef>
              <a:spcAft>
                <a:spcPts val="0"/>
              </a:spcAft>
              <a:buSzPct val="64285"/>
              <a:buChar char="•"/>
            </a:pPr>
            <a:r>
              <a:rPr lang="pt-BR"/>
              <a:t>estufas</a:t>
            </a:r>
            <a:endParaRPr/>
          </a:p>
          <a:p>
            <a:pPr indent="-308610" lvl="0" marL="457200" rtl="0" algn="just">
              <a:spcBef>
                <a:spcPts val="0"/>
              </a:spcBef>
              <a:spcAft>
                <a:spcPts val="0"/>
              </a:spcAft>
              <a:buSzPct val="64285"/>
              <a:buChar char="•"/>
            </a:pPr>
            <a:r>
              <a:rPr lang="pt-BR"/>
              <a:t>caldeiras</a:t>
            </a:r>
            <a:endParaRPr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>
            <p:ph type="title"/>
          </p:nvPr>
        </p:nvSpPr>
        <p:spPr>
          <a:xfrm>
            <a:off x="0" y="521725"/>
            <a:ext cx="9144000" cy="99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OBJETIVOS</a:t>
            </a:r>
            <a:endParaRPr/>
          </a:p>
        </p:txBody>
      </p:sp>
      <p:sp>
        <p:nvSpPr>
          <p:cNvPr id="116" name="Google Shape;116;p18"/>
          <p:cNvSpPr txBox="1"/>
          <p:nvPr>
            <p:ph idx="1" type="body"/>
          </p:nvPr>
        </p:nvSpPr>
        <p:spPr>
          <a:xfrm>
            <a:off x="0" y="1381625"/>
            <a:ext cx="9144000" cy="1357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81000" lvl="0" marL="457200" rtl="0" algn="just">
              <a:spcBef>
                <a:spcPts val="1000"/>
              </a:spcBef>
              <a:spcAft>
                <a:spcPts val="0"/>
              </a:spcAft>
              <a:buSzPts val="2400"/>
              <a:buFont typeface="Calibri"/>
              <a:buChar char="●"/>
            </a:pPr>
            <a:r>
              <a:rPr b="1" lang="pt-BR" sz="2400"/>
              <a:t>Objetivo Geral</a:t>
            </a:r>
            <a:endParaRPr b="1" sz="2400"/>
          </a:p>
          <a:p>
            <a:pPr indent="-349250" lvl="1" marL="914400" rtl="0" algn="just">
              <a:spcBef>
                <a:spcPts val="1000"/>
              </a:spcBef>
              <a:spcAft>
                <a:spcPts val="0"/>
              </a:spcAft>
              <a:buSzPts val="1900"/>
              <a:buChar char="○"/>
            </a:pPr>
            <a:r>
              <a:rPr lang="pt-BR" sz="1900"/>
              <a:t>Desenvolver um firmware capaz de realizar o ajuste de temperatura com controle proporcional, implementando o mesmo no kit didático XM118.</a:t>
            </a:r>
            <a:endParaRPr b="1" sz="1900"/>
          </a:p>
        </p:txBody>
      </p:sp>
      <p:sp>
        <p:nvSpPr>
          <p:cNvPr id="117" name="Google Shape;117;p18"/>
          <p:cNvSpPr txBox="1"/>
          <p:nvPr/>
        </p:nvSpPr>
        <p:spPr>
          <a:xfrm>
            <a:off x="0" y="2571750"/>
            <a:ext cx="91440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●"/>
            </a:pP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b="1" sz="2400">
              <a:latin typeface="Calibri"/>
              <a:ea typeface="Calibri"/>
              <a:cs typeface="Calibri"/>
              <a:sym typeface="Calibri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Font typeface="Calibri"/>
              <a:buChar char="○"/>
            </a:pPr>
            <a:r>
              <a:rPr lang="pt-BR" sz="1900">
                <a:latin typeface="Calibri"/>
                <a:ea typeface="Calibri"/>
                <a:cs typeface="Calibri"/>
                <a:sym typeface="Calibri"/>
              </a:rPr>
              <a:t>Desenvolver o firmware em linguagem C18;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Font typeface="Calibri"/>
              <a:buChar char="○"/>
            </a:pPr>
            <a:r>
              <a:rPr lang="pt-BR" sz="1900">
                <a:latin typeface="Calibri"/>
                <a:ea typeface="Calibri"/>
                <a:cs typeface="Calibri"/>
                <a:sym typeface="Calibri"/>
              </a:rPr>
              <a:t>Implementar um controlador proporcional;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Font typeface="Calibri"/>
              <a:buChar char="○"/>
            </a:pPr>
            <a:r>
              <a:rPr lang="pt-BR" sz="1900">
                <a:latin typeface="Calibri"/>
                <a:ea typeface="Calibri"/>
                <a:cs typeface="Calibri"/>
                <a:sym typeface="Calibri"/>
              </a:rPr>
              <a:t>Aplicar conhecimentos adquiridos na disciplina de Sistemas Microcontrolados;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Font typeface="Calibri"/>
              <a:buChar char="○"/>
            </a:pPr>
            <a:r>
              <a:rPr lang="pt-BR" sz="1900">
                <a:latin typeface="Calibri"/>
                <a:ea typeface="Calibri"/>
                <a:cs typeface="Calibri"/>
                <a:sym typeface="Calibri"/>
              </a:rPr>
              <a:t>Realizar ensaios em malha aberta;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Font typeface="Calibri"/>
              <a:buChar char="○"/>
            </a:pPr>
            <a:r>
              <a:rPr lang="pt-BR" sz="1900">
                <a:latin typeface="Calibri"/>
                <a:ea typeface="Calibri"/>
                <a:cs typeface="Calibri"/>
                <a:sym typeface="Calibri"/>
              </a:rPr>
              <a:t>Validar o funcionamento do protótipo.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0" y="521725"/>
            <a:ext cx="9144000" cy="99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JUSTIFICATIVA</a:t>
            </a:r>
            <a:endParaRPr/>
          </a:p>
        </p:txBody>
      </p:sp>
      <p:sp>
        <p:nvSpPr>
          <p:cNvPr id="123" name="Google Shape;123;p19"/>
          <p:cNvSpPr txBox="1"/>
          <p:nvPr>
            <p:ph idx="1" type="body"/>
          </p:nvPr>
        </p:nvSpPr>
        <p:spPr>
          <a:xfrm>
            <a:off x="0" y="1369225"/>
            <a:ext cx="9144000" cy="309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Relevância na atualidade;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Necessidade e importância de discutir sobre o tema;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Aplicação de conhecimentos no presente projeto.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type="title"/>
          </p:nvPr>
        </p:nvSpPr>
        <p:spPr>
          <a:xfrm>
            <a:off x="0" y="521725"/>
            <a:ext cx="9144000" cy="99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PIC18F4550</a:t>
            </a:r>
            <a:endParaRPr/>
          </a:p>
        </p:txBody>
      </p:sp>
      <p:sp>
        <p:nvSpPr>
          <p:cNvPr id="129" name="Google Shape;129;p20"/>
          <p:cNvSpPr txBox="1"/>
          <p:nvPr>
            <p:ph idx="1" type="body"/>
          </p:nvPr>
        </p:nvSpPr>
        <p:spPr>
          <a:xfrm>
            <a:off x="0" y="1248950"/>
            <a:ext cx="9011100" cy="3186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30200" lvl="0" marL="457200" rtl="0" algn="just">
              <a:spcBef>
                <a:spcPts val="1000"/>
              </a:spcBef>
              <a:spcAft>
                <a:spcPts val="0"/>
              </a:spcAft>
              <a:buSzPts val="1600"/>
              <a:buChar char="•"/>
            </a:pPr>
            <a:r>
              <a:rPr lang="pt-BR" sz="2600"/>
              <a:t>Características gerais;</a:t>
            </a:r>
            <a:endParaRPr sz="2600"/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pt-BR" sz="2600"/>
              <a:t>Ciclo de máquina;</a:t>
            </a:r>
            <a:endParaRPr sz="2600"/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pt-BR" sz="2600"/>
              <a:t>Módulo CCP(Capture-Compare-PWM);</a:t>
            </a:r>
            <a:endParaRPr sz="2600"/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pt-BR" sz="2600"/>
              <a:t>PWM;</a:t>
            </a:r>
            <a:endParaRPr sz="2600"/>
          </a:p>
        </p:txBody>
      </p:sp>
      <p:pic>
        <p:nvPicPr>
          <p:cNvPr id="130" name="Google Shape;13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3625" y="1974900"/>
            <a:ext cx="2660225" cy="119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>
            <p:ph type="title"/>
          </p:nvPr>
        </p:nvSpPr>
        <p:spPr>
          <a:xfrm>
            <a:off x="0" y="521725"/>
            <a:ext cx="9144000" cy="99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KIT XM118</a:t>
            </a:r>
            <a:endParaRPr/>
          </a:p>
        </p:txBody>
      </p:sp>
      <p:sp>
        <p:nvSpPr>
          <p:cNvPr id="136" name="Google Shape;136;p21"/>
          <p:cNvSpPr txBox="1"/>
          <p:nvPr>
            <p:ph idx="1" type="body"/>
          </p:nvPr>
        </p:nvSpPr>
        <p:spPr>
          <a:xfrm>
            <a:off x="628650" y="1369225"/>
            <a:ext cx="7886700" cy="309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Desenvolvido pela empresa Exsto;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Compatível com a IDE MPLABX da Microchip;</a:t>
            </a:r>
            <a:endParaRPr/>
          </a:p>
          <a:p>
            <a:pPr indent="0" lvl="0" marL="91440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>
            <p:ph type="title"/>
          </p:nvPr>
        </p:nvSpPr>
        <p:spPr>
          <a:xfrm>
            <a:off x="0" y="521725"/>
            <a:ext cx="9144000" cy="99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KIT XM118</a:t>
            </a:r>
            <a:endParaRPr/>
          </a:p>
        </p:txBody>
      </p:sp>
      <p:sp>
        <p:nvSpPr>
          <p:cNvPr id="142" name="Google Shape;142;p22"/>
          <p:cNvSpPr txBox="1"/>
          <p:nvPr/>
        </p:nvSpPr>
        <p:spPr>
          <a:xfrm>
            <a:off x="830400" y="4102400"/>
            <a:ext cx="256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KIT XM118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3" name="Google Shape;14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950" y="1515925"/>
            <a:ext cx="3422500" cy="249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/>
          <p:nvPr>
            <p:ph type="title"/>
          </p:nvPr>
        </p:nvSpPr>
        <p:spPr>
          <a:xfrm>
            <a:off x="0" y="521725"/>
            <a:ext cx="9144000" cy="99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ESPECIFICAÇÕES</a:t>
            </a:r>
            <a:endParaRPr/>
          </a:p>
        </p:txBody>
      </p:sp>
      <p:sp>
        <p:nvSpPr>
          <p:cNvPr id="149" name="Google Shape;149;p23"/>
          <p:cNvSpPr txBox="1"/>
          <p:nvPr>
            <p:ph idx="1" type="body"/>
          </p:nvPr>
        </p:nvSpPr>
        <p:spPr>
          <a:xfrm>
            <a:off x="628650" y="1369225"/>
            <a:ext cx="7886700" cy="309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Modo 1</a:t>
            </a:r>
            <a:endParaRPr/>
          </a:p>
          <a:p>
            <a:pPr indent="-342900" lvl="1" marL="1371600" rtl="0" algn="just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/>
              <a:t>Controle ocorre de forma proporcional;</a:t>
            </a:r>
            <a:endParaRPr/>
          </a:p>
          <a:p>
            <a:pPr indent="-342900" lvl="1" marL="1371600" rtl="0" algn="just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/>
              <a:t>Usuário define o valor de heater e temperatura desejada;</a:t>
            </a:r>
            <a:endParaRPr/>
          </a:p>
          <a:p>
            <a:pPr indent="-342900" lvl="1" marL="1371600" rtl="0" algn="just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/>
              <a:t>Iteração através dos botões INT0, INT1, INT2 e também teclado matricial.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/>
          <p:nvPr>
            <p:ph type="title"/>
          </p:nvPr>
        </p:nvSpPr>
        <p:spPr>
          <a:xfrm>
            <a:off x="0" y="521725"/>
            <a:ext cx="9144000" cy="99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ESPECIFICAÇÕES</a:t>
            </a:r>
            <a:endParaRPr/>
          </a:p>
        </p:txBody>
      </p:sp>
      <p:sp>
        <p:nvSpPr>
          <p:cNvPr id="155" name="Google Shape;155;p24"/>
          <p:cNvSpPr txBox="1"/>
          <p:nvPr>
            <p:ph idx="1" type="body"/>
          </p:nvPr>
        </p:nvSpPr>
        <p:spPr>
          <a:xfrm>
            <a:off x="628650" y="1369225"/>
            <a:ext cx="7886700" cy="309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Modo 2</a:t>
            </a:r>
            <a:endParaRPr/>
          </a:p>
          <a:p>
            <a:pPr indent="-342900" lvl="1" marL="1371600" rtl="0" algn="just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/>
              <a:t>Controle ocorre de forma independente;</a:t>
            </a:r>
            <a:endParaRPr/>
          </a:p>
          <a:p>
            <a:pPr indent="-342900" lvl="1" marL="1371600" rtl="0" algn="just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/>
              <a:t>Usuário define o valor do heater ou ventoinha;</a:t>
            </a:r>
            <a:endParaRPr/>
          </a:p>
          <a:p>
            <a:pPr indent="-342900" lvl="1" marL="1371600" rtl="0" algn="just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/>
              <a:t>Iteração através dos botões INT0 e INT1.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 txBox="1"/>
          <p:nvPr>
            <p:ph type="title"/>
          </p:nvPr>
        </p:nvSpPr>
        <p:spPr>
          <a:xfrm>
            <a:off x="0" y="521725"/>
            <a:ext cx="9144000" cy="99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ESPECIFICAÇÕES</a:t>
            </a:r>
            <a:endParaRPr/>
          </a:p>
        </p:txBody>
      </p:sp>
      <p:sp>
        <p:nvSpPr>
          <p:cNvPr id="161" name="Google Shape;161;p25"/>
          <p:cNvSpPr txBox="1"/>
          <p:nvPr>
            <p:ph idx="1" type="body"/>
          </p:nvPr>
        </p:nvSpPr>
        <p:spPr>
          <a:xfrm>
            <a:off x="628650" y="1369225"/>
            <a:ext cx="7886700" cy="309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Modo 3</a:t>
            </a:r>
            <a:endParaRPr/>
          </a:p>
          <a:p>
            <a:pPr indent="-342900" lvl="1" marL="1371600" rtl="0" algn="just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/>
              <a:t>Controle ocorre de forma automática;</a:t>
            </a:r>
            <a:endParaRPr/>
          </a:p>
          <a:p>
            <a:pPr indent="-342900" lvl="1" marL="1371600" rtl="0" algn="just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/>
              <a:t>Usuário define apenas o valor de temperatura desejada;</a:t>
            </a:r>
            <a:endParaRPr/>
          </a:p>
          <a:p>
            <a:pPr indent="-342900" lvl="1" marL="1371600" rtl="0" algn="just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/>
              <a:t>Iteração através dos botões INT0, INT1 e INT2.</a:t>
            </a:r>
            <a:endParaRPr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type="title"/>
          </p:nvPr>
        </p:nvSpPr>
        <p:spPr>
          <a:xfrm>
            <a:off x="0" y="521725"/>
            <a:ext cx="9144000" cy="99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RESULTADOS</a:t>
            </a:r>
            <a:endParaRPr/>
          </a:p>
        </p:txBody>
      </p:sp>
      <p:sp>
        <p:nvSpPr>
          <p:cNvPr id="167" name="Google Shape;167;p26"/>
          <p:cNvSpPr txBox="1"/>
          <p:nvPr>
            <p:ph idx="1" type="body"/>
          </p:nvPr>
        </p:nvSpPr>
        <p:spPr>
          <a:xfrm>
            <a:off x="644625" y="1515925"/>
            <a:ext cx="7870800" cy="2946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pt-BR"/>
              <a:t>Aylla (editar)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7"/>
          <p:cNvSpPr txBox="1"/>
          <p:nvPr>
            <p:ph type="title"/>
          </p:nvPr>
        </p:nvSpPr>
        <p:spPr>
          <a:xfrm>
            <a:off x="0" y="521725"/>
            <a:ext cx="9144000" cy="99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CONSIDERAÇÕES FINAIS</a:t>
            </a:r>
            <a:endParaRPr/>
          </a:p>
        </p:txBody>
      </p:sp>
      <p:sp>
        <p:nvSpPr>
          <p:cNvPr id="173" name="Google Shape;173;p27"/>
          <p:cNvSpPr txBox="1"/>
          <p:nvPr>
            <p:ph idx="1" type="body"/>
          </p:nvPr>
        </p:nvSpPr>
        <p:spPr>
          <a:xfrm>
            <a:off x="0" y="1321875"/>
            <a:ext cx="9144000" cy="3180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92100" lvl="0" marL="457200" rtl="0" algn="just">
              <a:spcBef>
                <a:spcPts val="1000"/>
              </a:spcBef>
              <a:spcAft>
                <a:spcPts val="0"/>
              </a:spcAft>
              <a:buSzPts val="1000"/>
              <a:buChar char="•"/>
            </a:pPr>
            <a:r>
              <a:rPr lang="pt-BR" sz="2000"/>
              <a:t>Início a uma base de estudos voltados ao controle de temperatura;</a:t>
            </a:r>
            <a:endParaRPr sz="2000"/>
          </a:p>
          <a:p>
            <a:pPr indent="-292100" lvl="0" marL="457200" rtl="0" algn="just">
              <a:spcBef>
                <a:spcPts val="0"/>
              </a:spcBef>
              <a:spcAft>
                <a:spcPts val="0"/>
              </a:spcAft>
              <a:buSzPts val="1000"/>
              <a:buChar char="•"/>
            </a:pPr>
            <a:r>
              <a:rPr lang="pt-BR" sz="2000"/>
              <a:t>Resultou em uma ampla </a:t>
            </a:r>
            <a:r>
              <a:rPr lang="pt-BR" sz="2000"/>
              <a:t>extensão</a:t>
            </a:r>
            <a:r>
              <a:rPr lang="pt-BR" sz="2000"/>
              <a:t> estruturada a partir das necessidades observadas;</a:t>
            </a:r>
            <a:endParaRPr sz="2000"/>
          </a:p>
          <a:p>
            <a:pPr indent="-292100" lvl="0" marL="457200" rtl="0" algn="just">
              <a:spcBef>
                <a:spcPts val="0"/>
              </a:spcBef>
              <a:spcAft>
                <a:spcPts val="0"/>
              </a:spcAft>
              <a:buSzPts val="1000"/>
              <a:buChar char="•"/>
            </a:pPr>
            <a:r>
              <a:rPr lang="pt-BR" sz="2000"/>
              <a:t>Funcionalidades que ampliaram a gama de possibilidades do </a:t>
            </a:r>
            <a:r>
              <a:rPr lang="pt-BR" sz="2000"/>
              <a:t>usuário</a:t>
            </a:r>
            <a:r>
              <a:rPr lang="pt-BR" sz="2000"/>
              <a:t> ao utilizar o sistema implementado;</a:t>
            </a:r>
            <a:endParaRPr sz="2000"/>
          </a:p>
          <a:p>
            <a:pPr indent="-292100" lvl="0" marL="457200" rtl="0" algn="just">
              <a:spcBef>
                <a:spcPts val="0"/>
              </a:spcBef>
              <a:spcAft>
                <a:spcPts val="0"/>
              </a:spcAft>
              <a:buSzPts val="1000"/>
              <a:buChar char="•"/>
            </a:pPr>
            <a:r>
              <a:rPr lang="pt-BR" sz="2000"/>
              <a:t>Controle se mostrou </a:t>
            </a:r>
            <a:r>
              <a:rPr lang="pt-BR" sz="2000"/>
              <a:t>rápido</a:t>
            </a:r>
            <a:r>
              <a:rPr lang="pt-BR" sz="2000"/>
              <a:t> e contínuo;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8"/>
          <p:cNvSpPr txBox="1"/>
          <p:nvPr>
            <p:ph type="title"/>
          </p:nvPr>
        </p:nvSpPr>
        <p:spPr>
          <a:xfrm>
            <a:off x="0" y="521725"/>
            <a:ext cx="9144000" cy="99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REFERÊNCIAS</a:t>
            </a:r>
            <a:endParaRPr/>
          </a:p>
        </p:txBody>
      </p:sp>
      <p:sp>
        <p:nvSpPr>
          <p:cNvPr id="179" name="Google Shape;179;p28"/>
          <p:cNvSpPr txBox="1"/>
          <p:nvPr>
            <p:ph idx="1" type="body"/>
          </p:nvPr>
        </p:nvSpPr>
        <p:spPr>
          <a:xfrm>
            <a:off x="628650" y="1369225"/>
            <a:ext cx="7886700" cy="309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xxxxxxxxxxxxxxxxx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Tema do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